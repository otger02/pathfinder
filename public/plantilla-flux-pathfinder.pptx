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5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82735" y="-1463040"/>
            <a:ext cx="4206240" cy="4206240"/>
          </a:xfrm>
          <a:prstGeom prst="ellipse">
            <a:avLst/>
          </a:prstGeom>
          <a:solidFill>
            <a:srgbClr val="2F6A5F"/>
          </a:solidFill>
          <a:ln/>
        </p:spPr>
      </p:sp>
      <p:sp>
        <p:nvSpPr>
          <p:cNvPr id="3" name="Shape 1"/>
          <p:cNvSpPr/>
          <p:nvPr/>
        </p:nvSpPr>
        <p:spPr>
          <a:xfrm>
            <a:off x="10271455" y="-822960"/>
            <a:ext cx="2194560" cy="219456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PATHFINDER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0175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E0B8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camí cap als teus papers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 legal assistida per IA per a persones migrants a Espanya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852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 Tierra Digna  ·  Vloggin SAS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29636" y="1170432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D9CFB8"/>
          </a:solidFill>
          <a:ln/>
        </p:spPr>
      </p:sp>
      <p:sp>
        <p:nvSpPr>
          <p:cNvPr id="3" name="Shape 1"/>
          <p:cNvSpPr/>
          <p:nvPr/>
        </p:nvSpPr>
        <p:spPr>
          <a:xfrm>
            <a:off x="8674772" y="1097280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31750">
            <a:solidFill>
              <a:srgbClr val="2F6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2775" y="1207008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E4DCC9"/>
          </a:solidFill>
          <a:ln/>
        </p:spPr>
      </p:sp>
      <p:sp>
        <p:nvSpPr>
          <p:cNvPr id="5" name="Text 3"/>
          <p:cNvSpPr/>
          <p:nvPr/>
        </p:nvSpPr>
        <p:spPr>
          <a:xfrm>
            <a:off x="8674772" y="3017520"/>
            <a:ext cx="22789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Insereix aquí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teva gravació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777240"/>
            <a:ext cx="502920" cy="50292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758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77724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PANTALLA D'INICI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Benvinguda per veu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868680" y="3154680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017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L'usuari diu el seu idioma i l'app respon a l'instant.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959352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8221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idiomes: català, castellà, anglès, francès i àrab.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4764024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62686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Pensat per a persones amb baixa alfabetització.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· Fundació Tierra Digna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2821" y="1170432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D9CFB8"/>
          </a:solidFill>
          <a:ln/>
        </p:spPr>
      </p:sp>
      <p:sp>
        <p:nvSpPr>
          <p:cNvPr id="3" name="Shape 1"/>
          <p:cNvSpPr/>
          <p:nvPr/>
        </p:nvSpPr>
        <p:spPr>
          <a:xfrm>
            <a:off x="1237957" y="1097280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31750">
            <a:solidFill>
              <a:srgbClr val="2F6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1207008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E4DCC9"/>
          </a:solidFill>
          <a:ln/>
        </p:spPr>
      </p:sp>
      <p:sp>
        <p:nvSpPr>
          <p:cNvPr id="5" name="Text 3"/>
          <p:cNvSpPr/>
          <p:nvPr/>
        </p:nvSpPr>
        <p:spPr>
          <a:xfrm>
            <a:off x="1237957" y="3017520"/>
            <a:ext cx="22789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Insereix aquí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teva gravació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777240"/>
            <a:ext cx="502920" cy="50292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758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40680" y="77724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ORIENTACIÓ GUIADA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L'arbre de decisió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4800600" y="3154680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3017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Preguntes senzilles que porten a la via legal correcta.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3959352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38221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nodes validats amb el Reglament d'Estrangeria vigent.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4764024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462686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resultat cita la seva base legal.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· Fundació Tierra Digna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29636" y="1170432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D9CFB8"/>
          </a:solidFill>
          <a:ln/>
        </p:spPr>
      </p:sp>
      <p:sp>
        <p:nvSpPr>
          <p:cNvPr id="3" name="Shape 1"/>
          <p:cNvSpPr/>
          <p:nvPr/>
        </p:nvSpPr>
        <p:spPr>
          <a:xfrm>
            <a:off x="8674772" y="1097280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31750">
            <a:solidFill>
              <a:srgbClr val="2F6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2775" y="1207008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E4DCC9"/>
          </a:solidFill>
          <a:ln/>
        </p:spPr>
      </p:sp>
      <p:sp>
        <p:nvSpPr>
          <p:cNvPr id="5" name="Text 3"/>
          <p:cNvSpPr/>
          <p:nvPr/>
        </p:nvSpPr>
        <p:spPr>
          <a:xfrm>
            <a:off x="8674772" y="3017520"/>
            <a:ext cx="22789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Insereix aquí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teva gravació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777240"/>
            <a:ext cx="502920" cy="50292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758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77724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XAT AMB 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Consentiment i conversa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868680" y="3154680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017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 explícit abans de recollir cap dada.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959352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8221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L'assistent respon citant la font legal.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4764024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62686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Avís permanent: és una IA, no un advocat.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· Fundació Tierra Digna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2821" y="1170432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D9CFB8"/>
          </a:solidFill>
          <a:ln/>
        </p:spPr>
      </p:sp>
      <p:sp>
        <p:nvSpPr>
          <p:cNvPr id="3" name="Shape 1"/>
          <p:cNvSpPr/>
          <p:nvPr/>
        </p:nvSpPr>
        <p:spPr>
          <a:xfrm>
            <a:off x="1237957" y="1097280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31750">
            <a:solidFill>
              <a:srgbClr val="2F6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1207008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E4DCC9"/>
          </a:solidFill>
          <a:ln/>
        </p:spPr>
      </p:sp>
      <p:sp>
        <p:nvSpPr>
          <p:cNvPr id="5" name="Text 3"/>
          <p:cNvSpPr/>
          <p:nvPr/>
        </p:nvSpPr>
        <p:spPr>
          <a:xfrm>
            <a:off x="1237957" y="3017520"/>
            <a:ext cx="22789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Insereix aquí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teva gravació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777240"/>
            <a:ext cx="502920" cy="50292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758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40680" y="77724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DE DOCUMENTS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Foto del document → dades extretes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4800600" y="3154680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3017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 el passaport o el padró: el sistema n'extreu les dades.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3959352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38221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 llegeix cartes oficials i en detecta els terminis.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4764024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462686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imatge no s'emmagatzema mai.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· Fundació Tierra Digna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29636" y="1170432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D9CFB8"/>
          </a:solidFill>
          <a:ln/>
        </p:spPr>
      </p:sp>
      <p:sp>
        <p:nvSpPr>
          <p:cNvPr id="3" name="Shape 1"/>
          <p:cNvSpPr/>
          <p:nvPr/>
        </p:nvSpPr>
        <p:spPr>
          <a:xfrm>
            <a:off x="8674772" y="1097280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31750">
            <a:solidFill>
              <a:srgbClr val="2F6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2775" y="1207008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E4DCC9"/>
          </a:solidFill>
          <a:ln/>
        </p:spPr>
      </p:sp>
      <p:sp>
        <p:nvSpPr>
          <p:cNvPr id="5" name="Text 3"/>
          <p:cNvSpPr/>
          <p:nvPr/>
        </p:nvSpPr>
        <p:spPr>
          <a:xfrm>
            <a:off x="8674772" y="3017520"/>
            <a:ext cx="22789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Insereix aquí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teva gravació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777240"/>
            <a:ext cx="502920" cy="50292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758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77724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PDF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Pujar un PDF (contracte, carta)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868680" y="3154680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017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Llegeix contractes i resolucions senceres.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959352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8221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Extreu les dades de l'empresa per a l'arraigo sociolaboral.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4764024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62686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contracte + un passaport ≈ expedient complet.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· Fundació Tierra Digna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2821" y="1170432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D9CFB8"/>
          </a:solidFill>
          <a:ln/>
        </p:spPr>
      </p:sp>
      <p:sp>
        <p:nvSpPr>
          <p:cNvPr id="3" name="Shape 1"/>
          <p:cNvSpPr/>
          <p:nvPr/>
        </p:nvSpPr>
        <p:spPr>
          <a:xfrm>
            <a:off x="1237957" y="1097280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31750">
            <a:solidFill>
              <a:srgbClr val="2F6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1207008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E4DCC9"/>
          </a:solidFill>
          <a:ln/>
        </p:spPr>
      </p:sp>
      <p:sp>
        <p:nvSpPr>
          <p:cNvPr id="5" name="Text 3"/>
          <p:cNvSpPr/>
          <p:nvPr/>
        </p:nvSpPr>
        <p:spPr>
          <a:xfrm>
            <a:off x="1237957" y="3017520"/>
            <a:ext cx="22789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Insereix aquí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teva gravació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777240"/>
            <a:ext cx="502920" cy="50292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758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40680" y="77724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ACOMPANYAMENT PRÀCTIC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Checklist de documents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4800600" y="3154680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3017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Llista personalitzada de documents per al tràmit.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3959352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38221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 qui ha d'obtenir cada document i la seva validesa.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4764024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462686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Marca'ls a mesura que els aconsegueixes.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· Fundació Tierra Digna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29636" y="1170432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D9CFB8"/>
          </a:solidFill>
          <a:ln/>
        </p:spPr>
      </p:sp>
      <p:sp>
        <p:nvSpPr>
          <p:cNvPr id="3" name="Shape 1"/>
          <p:cNvSpPr/>
          <p:nvPr/>
        </p:nvSpPr>
        <p:spPr>
          <a:xfrm>
            <a:off x="8674772" y="1097280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31750">
            <a:solidFill>
              <a:srgbClr val="2F6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402775" y="1207008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E4DCC9"/>
          </a:solidFill>
          <a:ln/>
        </p:spPr>
      </p:sp>
      <p:sp>
        <p:nvSpPr>
          <p:cNvPr id="5" name="Text 3"/>
          <p:cNvSpPr/>
          <p:nvPr/>
        </p:nvSpPr>
        <p:spPr>
          <a:xfrm>
            <a:off x="8674772" y="3017520"/>
            <a:ext cx="22789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Insereix aquí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teva gravació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777240"/>
            <a:ext cx="502920" cy="50292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758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77724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RESULTAT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formulari oficial, emplenat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868680" y="3154680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017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 EX emplenat automàticament amb les dades de la conversa.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68680" y="3959352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8221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models coberts, inclosos EX-31 i EX-32 (regularització 2026).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68680" y="4764024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62686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Llest per revisar, signar i presentar.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· Fundació Tierra Digna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92821" y="1170432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D9CFB8"/>
          </a:solidFill>
          <a:ln/>
        </p:spPr>
      </p:sp>
      <p:sp>
        <p:nvSpPr>
          <p:cNvPr id="3" name="Shape 1"/>
          <p:cNvSpPr/>
          <p:nvPr/>
        </p:nvSpPr>
        <p:spPr>
          <a:xfrm>
            <a:off x="1237957" y="1097280"/>
            <a:ext cx="2278966" cy="4937760"/>
          </a:xfrm>
          <a:prstGeom prst="roundRect">
            <a:avLst>
              <a:gd name="adj" fmla="val 11235"/>
            </a:avLst>
          </a:prstGeom>
          <a:solidFill>
            <a:srgbClr val="FFFFFF"/>
          </a:solidFill>
          <a:ln w="31750">
            <a:solidFill>
              <a:srgbClr val="2F6A5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65960" y="1207008"/>
            <a:ext cx="822960" cy="109728"/>
          </a:xfrm>
          <a:prstGeom prst="roundRect">
            <a:avLst>
              <a:gd name="adj" fmla="val 50000"/>
            </a:avLst>
          </a:prstGeom>
          <a:solidFill>
            <a:srgbClr val="E4DCC9"/>
          </a:solidFill>
          <a:ln/>
        </p:spPr>
      </p:sp>
      <p:sp>
        <p:nvSpPr>
          <p:cNvPr id="5" name="Text 3"/>
          <p:cNvSpPr/>
          <p:nvPr/>
        </p:nvSpPr>
        <p:spPr>
          <a:xfrm>
            <a:off x="1237957" y="3017520"/>
            <a:ext cx="227896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Insereix aquí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teva gravació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777240"/>
            <a:ext cx="502920" cy="50292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758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A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40680" y="777240"/>
            <a:ext cx="5897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6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 SEGUIMENT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0" y="1417320"/>
            <a:ext cx="6583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300" b="1" dirty="0">
                <a:solidFill>
                  <a:srgbClr val="1F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teu procés, sempre desat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4800600" y="3154680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301752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Processos desats i represa de la conversa en qualsevol moment.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3959352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3822192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de la teva província i consolats del teu país.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4764024"/>
            <a:ext cx="128016" cy="128016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5" name="Text 13"/>
          <p:cNvSpPr/>
          <p:nvPr/>
        </p:nvSpPr>
        <p:spPr>
          <a:xfrm>
            <a:off x="5074920" y="4626864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personals i avisos pràctics per zona.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355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 · Fundació Tierra Digna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F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A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Privacitat i transparència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822960" y="1783080"/>
            <a:ext cx="5166360" cy="1965960"/>
          </a:xfrm>
          <a:prstGeom prst="roundRect">
            <a:avLst>
              <a:gd name="adj" fmla="val 7442"/>
            </a:avLst>
          </a:prstGeom>
          <a:solidFill>
            <a:srgbClr val="FBF7EE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2075688"/>
            <a:ext cx="365760" cy="36576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5" name="Text 3"/>
          <p:cNvSpPr/>
          <p:nvPr/>
        </p:nvSpPr>
        <p:spPr>
          <a:xfrm>
            <a:off x="1645920" y="19842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 explícit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115568" y="2651760"/>
            <a:ext cx="4581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dada es recull sense permís previ. Les sessions anònimes s'esborren a les 24 h.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166360" cy="1965960"/>
          </a:xfrm>
          <a:prstGeom prst="roundRect">
            <a:avLst>
              <a:gd name="adj" fmla="val 7442"/>
            </a:avLst>
          </a:prstGeom>
          <a:solidFill>
            <a:srgbClr val="FBF7EE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2075688"/>
            <a:ext cx="365760" cy="36576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0" y="19842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transparent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601968" y="2651760"/>
            <a:ext cx="4581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Avís permanent que parles amb una IA, no amb un advocat (Reglament europeu d'IA, art. 50).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4069080"/>
            <a:ext cx="5166360" cy="1965960"/>
          </a:xfrm>
          <a:prstGeom prst="roundRect">
            <a:avLst>
              <a:gd name="adj" fmla="val 7442"/>
            </a:avLst>
          </a:prstGeom>
          <a:solidFill>
            <a:srgbClr val="FBF7EE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4361688"/>
            <a:ext cx="365760" cy="36576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3" name="Text 11"/>
          <p:cNvSpPr/>
          <p:nvPr/>
        </p:nvSpPr>
        <p:spPr>
          <a:xfrm>
            <a:off x="1645920" y="42702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de debò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115568" y="4937760"/>
            <a:ext cx="4581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Xifratge, aïllament per usuari, registres sense dades personals i dret a eliminar-ho tot.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9360" y="4069080"/>
            <a:ext cx="5166360" cy="1965960"/>
          </a:xfrm>
          <a:prstGeom prst="roundRect">
            <a:avLst>
              <a:gd name="adj" fmla="val 7442"/>
            </a:avLst>
          </a:prstGeom>
          <a:solidFill>
            <a:srgbClr val="FBF7EE"/>
          </a:solidFill>
          <a:ln w="12700">
            <a:solidFill>
              <a:srgbClr val="E4DC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4361688"/>
            <a:ext cx="365760" cy="365760"/>
          </a:xfrm>
          <a:prstGeom prst="ellipse">
            <a:avLst/>
          </a:prstGeom>
          <a:solidFill>
            <a:srgbClr val="E0B85B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427024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5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institucional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601968" y="4937760"/>
            <a:ext cx="4581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3D4D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 l'activitat, cobertura legal i compliment, documentats en un PDF públic.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45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97680"/>
            <a:ext cx="4206240" cy="4206240"/>
          </a:xfrm>
          <a:prstGeom prst="ellipse">
            <a:avLst/>
          </a:prstGeom>
          <a:solidFill>
            <a:srgbClr val="2F6A5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Prova-ho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B8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pathfinder-inky-nine.vercel.app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474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FEA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Gratuït · 5 idiomes · Cap dada sense el teu consentiment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58521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9CD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 Tierra Digna  ·  Vloggin SAS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74175" y="2377440"/>
            <a:ext cx="2103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9174175" y="237744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B7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(substitueix-me)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Pathfinder — Recorregut complet de l'app</dc:title>
  <dc:subject>PptxGenJS Presentation</dc:subject>
  <dc:creator>Pathfinder · Fundació Tierra Digna</dc:creator>
  <cp:lastModifiedBy>Pathfinder · Fundació Tierra Digna</cp:lastModifiedBy>
  <cp:revision>1</cp:revision>
  <dcterms:created xsi:type="dcterms:W3CDTF">2026-06-12T16:04:40Z</dcterms:created>
  <dcterms:modified xsi:type="dcterms:W3CDTF">2026-06-12T16:04:40Z</dcterms:modified>
</cp:coreProperties>
</file>